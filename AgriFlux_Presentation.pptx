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3108960" cy="310896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CDAC ACTS · PGCP-AC FEB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AgriFlux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66928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4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Platform with AI Assistant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e-commerce &amp; advisory platform empowering Indian farmers with AI-driven insights, real-time weather, and secure online commerce.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24471F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Shweta Singh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Batch: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PGCP-AC February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 ACTS, Pune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4160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4348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Mahadik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64040" y="4434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260240120061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47548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Jain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464040" y="47548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260240120070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Shrutik Choudhary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64040" y="5074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260240120179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53949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Krushnal Mahajan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64040" y="53949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260240120092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57150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Bhogade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64040" y="57150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C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260240120043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F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08760" y="14173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57800" y="1417320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Indian farmers need a unified digital platform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FD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6712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16712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2167128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AgriFlux offers — commerce, AI, weather &amp; more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FD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1693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291693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2916936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frontend, backend and database connect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FD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6674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66674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3666744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 and tools used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165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FD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1655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4165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7800" y="4416552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 and REST endpoint design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FD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663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08760" y="51663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Walkthrough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57800" y="5166360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working application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9161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EFD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9161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08760" y="59161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Future Scope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57800" y="5916168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plan and roadmap ahead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422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657600" cy="3657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today juggle multiple disconnected sources for supplies, advice and weather — with no single trusted platform in their own language.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640080"/>
            <a:ext cx="685800" cy="6858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7" name="Image 0" descr="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8046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Buying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0" y="184708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fertilizers &amp; tools sourced from scattered, unreliable local vendors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75320" y="640080"/>
            <a:ext cx="685800" cy="6858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1" name="Image 1" descr="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8046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53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Access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275320" y="184708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timely, personalized farming advice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0" y="3474720"/>
            <a:ext cx="685800" cy="6858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5" name="Image 2" descr="weat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6393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Blind Spots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572000" y="468172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 into weather risk for planning field activities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75320" y="3474720"/>
            <a:ext cx="685800" cy="6858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9" name="Image 3" descr="langu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3639312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275320" y="468172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digital platforms are English-only, excluding rural users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combining commerce, intelligence and localisation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40080" cy="6400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6" name="Image 0" descr="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00985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24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System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Farmer &amp; Admin experiences with role-based access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856232"/>
            <a:ext cx="640080" cy="6400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1" name="Image 1" descr="weat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763" y="200985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624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weather with contextual, actionable farming advice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856232"/>
            <a:ext cx="640080" cy="6400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6" name="Image 2" descr="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0098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624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AgriBot — AI Advisor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57616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LLaMA 3.3 70B chatbot for farming Q&amp;A in Hindi &amp; English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640080" cy="6400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21" name="Image 3" descr="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34157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56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303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secure login using Spring Security &amp; JWT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931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4187952"/>
            <a:ext cx="640080" cy="6400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26" name="Image 4" descr="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763" y="434157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956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Payments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81144" y="5303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secure online payment gateway integration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3931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187952"/>
            <a:ext cx="640080" cy="64008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31" name="Image 5" descr="langu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235" y="434157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4956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57616" y="5303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English ⇄ Hindi switching across the entire app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3-tier architecture — React frontend, Spring Boot backend, MySQL database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3911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Redux Toolkit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85900" y="29718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8745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203911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REST APIs · 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97780" y="29718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9778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4C7A34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203911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24688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Spring Data JPA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09660" y="29718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70966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3306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3320" y="2473452"/>
            <a:ext cx="548640" cy="219456"/>
          </a:xfrm>
          <a:prstGeom prst="rightArrow">
            <a:avLst/>
          </a:prstGeom>
          <a:solidFill>
            <a:srgbClr val="E0A8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2473452"/>
            <a:ext cx="548640" cy="219456"/>
          </a:xfrm>
          <a:prstGeom prst="rightArrow">
            <a:avLst/>
          </a:prstGeom>
          <a:solidFill>
            <a:srgbClr val="E0A82E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27203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over HTTPS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60920" y="27203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Third-Party Services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4EFD8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4261104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26" name="Image 0" descr="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4403750"/>
            <a:ext cx="309067" cy="30906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0876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50876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AgriBot — LLaMA 3.3 70B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434840" y="4114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4EFD8"/>
          </a:solidFill>
          <a:ln/>
        </p:spPr>
      </p:sp>
      <p:sp>
        <p:nvSpPr>
          <p:cNvPr id="30" name="Shape 27"/>
          <p:cNvSpPr/>
          <p:nvPr/>
        </p:nvSpPr>
        <p:spPr>
          <a:xfrm>
            <a:off x="4599432" y="4261104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31" name="Image 1" descr="weat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4403750"/>
            <a:ext cx="309067" cy="309067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0352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30352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farming advice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229600" y="4114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4EFD8"/>
          </a:solidFill>
          <a:ln/>
        </p:spPr>
      </p:sp>
      <p:sp>
        <p:nvSpPr>
          <p:cNvPr id="35" name="Shape 31"/>
          <p:cNvSpPr/>
          <p:nvPr/>
        </p:nvSpPr>
        <p:spPr>
          <a:xfrm>
            <a:off x="8394192" y="4261104"/>
            <a:ext cx="59436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36" name="Image 2" descr="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38" y="4403750"/>
            <a:ext cx="309067" cy="309067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09828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909828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40080" y="3611880"/>
            <a:ext cx="10287000" cy="0"/>
          </a:xfrm>
          <a:prstGeom prst="line">
            <a:avLst/>
          </a:prstGeom>
          <a:noFill/>
          <a:ln w="12700">
            <a:solidFill>
              <a:srgbClr val="D9E4C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008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Invoice generation &amp; PDF export are handled within the Spring Boot backend (no separate microservice).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4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Frontend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9144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library powering the entire interface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1947672"/>
            <a:ext cx="502920" cy="9144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dev server &amp; build tool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1947672"/>
            <a:ext cx="502920" cy="9144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— auth, cart &amp; language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279392"/>
            <a:ext cx="502920" cy="9144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4983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responsive styling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5112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4279392"/>
            <a:ext cx="502920" cy="9144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(REST client)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81144" y="4983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with JWT interceptor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1584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4279392"/>
            <a:ext cx="502920" cy="91440"/>
          </a:xfrm>
          <a:prstGeom prst="roundRect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57616" y="4983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across pages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4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Backend, Database &amp; Tools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914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programming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1947672"/>
            <a:ext cx="502920" cy="914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81144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REST APIs &amp; app config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1947672"/>
            <a:ext cx="502920" cy="914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57616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token-based authentication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279392"/>
            <a:ext cx="502920" cy="914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672" y="4983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&amp; repository-based data 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5112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4279392"/>
            <a:ext cx="502920" cy="914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81144" y="4983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persistence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1584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4279392"/>
            <a:ext cx="502920" cy="914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57616" y="4983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design, testing &amp; documentation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 and their relationships (MySQL)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email, password, 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many orders, addresses, one cart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price, stock_quantity, category_id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description, is_active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many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user, has many cart_items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cart_id, product_id, quantity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cart and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user_id, address_id, total_amount,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many order_items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order_id, product_id, price_at_purchase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locked at order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user_id, full_name, city, state, pincode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D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endpoints across core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Users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860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31720" y="2286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312724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1272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31720" y="3127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64992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600200"/>
            <a:ext cx="26060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Cart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29584" y="22860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3529584" y="22860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48072" y="2286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29584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29584" y="312724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529584" y="31272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148072" y="3127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29584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/api/cart/add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29584" y="3968496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3529584" y="396849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48072" y="39684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529584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/api/admin/products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1600200"/>
            <a:ext cx="26060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6181344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Payments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45936" y="22860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6345936" y="22860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64424" y="2286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45936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/api/orders/place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45936" y="312724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31272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964424" y="3127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45936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/api/payment/create-order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45936" y="3968496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B8860B"/>
          </a:solidFill>
          <a:ln/>
        </p:spPr>
      </p:sp>
      <p:sp>
        <p:nvSpPr>
          <p:cNvPr id="42" name="Text 40"/>
          <p:cNvSpPr/>
          <p:nvPr/>
        </p:nvSpPr>
        <p:spPr>
          <a:xfrm>
            <a:off x="6345936" y="396849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64424" y="39684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45936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/api/admin/orders/{id}/status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997696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997696" y="1600200"/>
            <a:ext cx="26060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8997696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AgriBot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162288" y="228600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</p:sp>
      <p:sp>
        <p:nvSpPr>
          <p:cNvPr id="49" name="Text 47"/>
          <p:cNvSpPr/>
          <p:nvPr/>
        </p:nvSpPr>
        <p:spPr>
          <a:xfrm>
            <a:off x="9162288" y="22860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780776" y="2286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62288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/api/weather/forecast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62288" y="312724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53" name="Text 51"/>
          <p:cNvSpPr/>
          <p:nvPr/>
        </p:nvSpPr>
        <p:spPr>
          <a:xfrm>
            <a:off x="9162288" y="31272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0780776" y="31272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162288" y="3401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/api/chatbot/chat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 — 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 from the working AgriFlux application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719072"/>
            <a:ext cx="3282696" cy="310896"/>
          </a:xfrm>
          <a:prstGeom prst="roundRect">
            <a:avLst>
              <a:gd name="adj" fmla="val 14706"/>
            </a:avLst>
          </a:prstGeom>
          <a:solidFill>
            <a:srgbClr val="1E422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196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8196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8196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084832"/>
            <a:ext cx="3282696" cy="28712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051" y="2084832"/>
            <a:ext cx="3070177" cy="28712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506577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1792" y="539496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branded login screen with secure JWT-based authentication.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5196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16552" y="1719072"/>
            <a:ext cx="3282696" cy="310896"/>
          </a:xfrm>
          <a:prstGeom prst="roundRect">
            <a:avLst>
              <a:gd name="adj" fmla="val 14706"/>
            </a:avLst>
          </a:prstGeom>
          <a:solidFill>
            <a:srgbClr val="1E422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07992" y="18196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90872" y="18196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7" name="Shape 14"/>
          <p:cNvSpPr/>
          <p:nvPr/>
        </p:nvSpPr>
        <p:spPr>
          <a:xfrm>
            <a:off x="4873752" y="18196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8" name="Shape 15"/>
          <p:cNvSpPr/>
          <p:nvPr/>
        </p:nvSpPr>
        <p:spPr>
          <a:xfrm>
            <a:off x="4416552" y="2084832"/>
            <a:ext cx="3282696" cy="28712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1" descr="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782872"/>
            <a:ext cx="3282696" cy="14751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16552" y="506577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416552" y="539496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hero banner, trust badges and quick actions.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4672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11312" y="1719072"/>
            <a:ext cx="3282696" cy="310896"/>
          </a:xfrm>
          <a:prstGeom prst="roundRect">
            <a:avLst>
              <a:gd name="adj" fmla="val 14706"/>
            </a:avLst>
          </a:prstGeom>
          <a:solidFill>
            <a:srgbClr val="1E4220"/>
          </a:solidFill>
          <a:ln/>
        </p:spPr>
      </p:sp>
      <p:sp>
        <p:nvSpPr>
          <p:cNvPr id="24" name="Shape 20"/>
          <p:cNvSpPr/>
          <p:nvPr/>
        </p:nvSpPr>
        <p:spPr>
          <a:xfrm>
            <a:off x="8302752" y="18196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5" name="Shape 21"/>
          <p:cNvSpPr/>
          <p:nvPr/>
        </p:nvSpPr>
        <p:spPr>
          <a:xfrm>
            <a:off x="8485632" y="18196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6" name="Shape 22"/>
          <p:cNvSpPr/>
          <p:nvPr/>
        </p:nvSpPr>
        <p:spPr>
          <a:xfrm>
            <a:off x="8668512" y="18196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7" name="Shape 23"/>
          <p:cNvSpPr/>
          <p:nvPr/>
        </p:nvSpPr>
        <p:spPr>
          <a:xfrm>
            <a:off x="8211312" y="2084832"/>
            <a:ext cx="3282696" cy="28712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2" descr="weather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649902"/>
            <a:ext cx="3282696" cy="174107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211312" y="506577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211312" y="539496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live weather with farming-relevant metrics.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Walkthrough — 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shopping and order management 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719072"/>
            <a:ext cx="3282696" cy="310896"/>
          </a:xfrm>
          <a:prstGeom prst="roundRect">
            <a:avLst>
              <a:gd name="adj" fmla="val 14706"/>
            </a:avLst>
          </a:prstGeom>
          <a:solidFill>
            <a:srgbClr val="1E422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196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8196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8196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084832"/>
            <a:ext cx="3282696" cy="28712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657506"/>
            <a:ext cx="3282696" cy="17258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506577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1792" y="539496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management with live order summary and totals.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5196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16552" y="1719072"/>
            <a:ext cx="3282696" cy="310896"/>
          </a:xfrm>
          <a:prstGeom prst="roundRect">
            <a:avLst>
              <a:gd name="adj" fmla="val 14706"/>
            </a:avLst>
          </a:prstGeom>
          <a:solidFill>
            <a:srgbClr val="1E4220"/>
          </a:solidFill>
          <a:ln/>
        </p:spPr>
      </p:sp>
      <p:sp>
        <p:nvSpPr>
          <p:cNvPr id="15" name="Shape 12"/>
          <p:cNvSpPr/>
          <p:nvPr/>
        </p:nvSpPr>
        <p:spPr>
          <a:xfrm>
            <a:off x="4507992" y="18196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6" name="Shape 13"/>
          <p:cNvSpPr/>
          <p:nvPr/>
        </p:nvSpPr>
        <p:spPr>
          <a:xfrm>
            <a:off x="4690872" y="18196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7" name="Shape 14"/>
          <p:cNvSpPr/>
          <p:nvPr/>
        </p:nvSpPr>
        <p:spPr>
          <a:xfrm>
            <a:off x="4873752" y="18196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8" name="Shape 15"/>
          <p:cNvSpPr/>
          <p:nvPr/>
        </p:nvSpPr>
        <p:spPr>
          <a:xfrm>
            <a:off x="4416552" y="2084832"/>
            <a:ext cx="3282696" cy="28712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1" descr="check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729354"/>
            <a:ext cx="3282696" cy="15821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16552" y="506577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416552" y="539496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selection, COD / online payment via Razorpay.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46720" y="1554480"/>
            <a:ext cx="3611880" cy="4526280"/>
          </a:xfrm>
          <a:prstGeom prst="roundRect">
            <a:avLst>
              <a:gd name="adj" fmla="val 2278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11312" y="1719072"/>
            <a:ext cx="3282696" cy="310896"/>
          </a:xfrm>
          <a:prstGeom prst="roundRect">
            <a:avLst>
              <a:gd name="adj" fmla="val 14706"/>
            </a:avLst>
          </a:prstGeom>
          <a:solidFill>
            <a:srgbClr val="1E4220"/>
          </a:solidFill>
          <a:ln/>
        </p:spPr>
      </p:sp>
      <p:sp>
        <p:nvSpPr>
          <p:cNvPr id="24" name="Shape 20"/>
          <p:cNvSpPr/>
          <p:nvPr/>
        </p:nvSpPr>
        <p:spPr>
          <a:xfrm>
            <a:off x="8302752" y="181965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5" name="Shape 21"/>
          <p:cNvSpPr/>
          <p:nvPr/>
        </p:nvSpPr>
        <p:spPr>
          <a:xfrm>
            <a:off x="8485632" y="181965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6" name="Shape 22"/>
          <p:cNvSpPr/>
          <p:nvPr/>
        </p:nvSpPr>
        <p:spPr>
          <a:xfrm>
            <a:off x="8668512" y="181965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7" name="Shape 23"/>
          <p:cNvSpPr/>
          <p:nvPr/>
        </p:nvSpPr>
        <p:spPr>
          <a:xfrm>
            <a:off x="8211312" y="2084832"/>
            <a:ext cx="3282696" cy="28712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8" name="Image 2" descr="or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445309"/>
            <a:ext cx="3282696" cy="215026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211312" y="506577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211312" y="5394960"/>
            <a:ext cx="3282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with a 5-stage live status tracker.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AgriBot — Your AI Farming Assistant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expert-level farming guidance — in Hindi &amp; English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6" name="Image 0" descr="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20563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02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2402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LLaMA 3.3 70B for fast, high-quality responses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907792"/>
            <a:ext cx="566928" cy="56692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0" name="Image 1" descr="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04385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90779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Q&amp;A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80160" y="322783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 ask questions naturally in Hindi or English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4" name="Image 2" descr="seedl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031407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89534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Region-aware advice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421538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factor in local crops, soil and climate context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566928" cy="566928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8" name="Image 3" descr="weath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5018959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88289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accessible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80160" y="520293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chat widget available across the entire app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595360" y="1051560"/>
            <a:ext cx="3291840" cy="4002975"/>
          </a:xfrm>
          <a:prstGeom prst="roundRect">
            <a:avLst>
              <a:gd name="adj" fmla="val 5000"/>
            </a:avLst>
          </a:prstGeom>
          <a:solidFill>
            <a:srgbClr val="24471F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22" name="Image 4" descr="chat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188720"/>
            <a:ext cx="3017520" cy="372865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reach across India — not just English-speaking users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837"/>
            </a:avLst>
          </a:prstGeom>
          <a:solidFill>
            <a:srgbClr val="E4EFD8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6437376" cy="310896"/>
          </a:xfrm>
          <a:prstGeom prst="roundRect">
            <a:avLst>
              <a:gd name="adj" fmla="val 14706"/>
            </a:avLst>
          </a:prstGeom>
          <a:solidFill>
            <a:srgbClr val="1E422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65376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865376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65376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130552"/>
            <a:ext cx="6437376" cy="277977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133" y="2130552"/>
            <a:ext cx="5691573" cy="2779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5020056"/>
            <a:ext cx="6437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Language Switch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3232" y="5349240"/>
            <a:ext cx="6437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 instantly toggle the entire UI between English and हिंदी (Hindi) from Settings.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89520" y="17830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4EFD8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18928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Reach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8120" y="22585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English-literacy barrier for rural &amp; semi-urban farmers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89520" y="32461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4EFD8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33558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Switching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18120" y="3721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reload — language state managed via Redux Toolkit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89520" y="47091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4EFD8"/>
          </a:solidFill>
          <a:ln/>
        </p:spPr>
      </p:sp>
      <p:sp>
        <p:nvSpPr>
          <p:cNvPr id="20" name="Text 17"/>
          <p:cNvSpPr/>
          <p:nvPr/>
        </p:nvSpPr>
        <p:spPr>
          <a:xfrm>
            <a:off x="7818120" y="4818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Everywhere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18120" y="51846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uniformly across navigation, forms and AgriBot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DevOps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and cloud-hosted for reliable delivery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24471F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2194560"/>
            <a:ext cx="960120" cy="96012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7" name="Image 0" descr="do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229" y="242498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of frontend &amp; backend services for consistent environments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24471F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194560"/>
            <a:ext cx="960120" cy="96012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2" name="Image 1" descr="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989" y="242498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337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17720" y="37947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for the Spring Boot backend &amp; React frontend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24471F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0" y="2194560"/>
            <a:ext cx="960120" cy="96012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1E4220">
                <a:alpha val="25000"/>
              </a:srgbClr>
            </a:outerShdw>
          </a:effectLst>
        </p:spPr>
      </p:sp>
      <p:pic>
        <p:nvPicPr>
          <p:cNvPr id="17" name="Image 2" descr="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749" y="2424989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3375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MySQL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37947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MySQL database for production data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beyond the current release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4EFD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2082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 login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4EFD8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2082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20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169164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for order updates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4EFD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43814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10896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 &amp; ratings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4EFD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43814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310896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 with charts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4EFD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5546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52628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integration for product images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E4EFD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85546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452628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frequently accessed data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Farming Marketplace with AI Assistant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4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AgriFlux — Smart Agriculture Platform with AI Assistant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D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Shweta Singh   |   CDAC ACTS, Pune   |   Project No. 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2026-08-01T03:48:26Z</dcterms:created>
  <dcterms:modified xsi:type="dcterms:W3CDTF">2026-08-01T03:48:26Z</dcterms:modified>
</cp:coreProperties>
</file>